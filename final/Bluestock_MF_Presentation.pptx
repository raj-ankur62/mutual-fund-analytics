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723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52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4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21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91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76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711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96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4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6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77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015728-4E03-4639-9A4B-E37E072A08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25F93FD-63F6-4D22-936F-68F7C078D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8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C8D4-C3BF-C687-C523-7A0C86E49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 Project I - Mutual Fund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399C-3EB4-781D-DFAB-779EB5AE3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Project Progress Presentation</a:t>
            </a:r>
          </a:p>
          <a:p>
            <a:r>
              <a:rPr lang="en-US" dirty="0"/>
              <a:t>Day 1 - Day 6</a:t>
            </a:r>
          </a:p>
          <a:p>
            <a:pPr algn="ctr"/>
            <a:r>
              <a:rPr lang="en-US" b="0" i="0" dirty="0">
                <a:effectLst/>
                <a:latin typeface="Arial" panose="020B0604020202020204" pitchFamily="34" charset="0"/>
              </a:rPr>
              <a:t>Prepared By : </a:t>
            </a:r>
            <a:r>
              <a:rPr lang="en-US" dirty="0"/>
              <a:t>Ankur Kumar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790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9ABC-1951-F42F-E8BD-8852C257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7B18E-4830-DE38-A2E5-870B897CC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Mutual fund data is spread across multiple datasets, making it difficult to </a:t>
            </a:r>
            <a:r>
              <a:rPr lang="en-US" dirty="0" err="1"/>
              <a:t>analyse</a:t>
            </a:r>
            <a:r>
              <a:rPr lang="en-US" dirty="0"/>
              <a:t> fund performance, risk, investor </a:t>
            </a:r>
            <a:r>
              <a:rPr lang="en-US" dirty="0" err="1"/>
              <a:t>behaviour</a:t>
            </a:r>
            <a:r>
              <a:rPr lang="en-US" dirty="0"/>
              <a:t> and market trends in one place.</a:t>
            </a:r>
          </a:p>
          <a:p>
            <a:pPr marL="0" indent="0">
              <a:buNone/>
            </a:pPr>
            <a:r>
              <a:rPr lang="en-IN" b="1" dirty="0"/>
              <a:t>Objectives:</a:t>
            </a:r>
          </a:p>
          <a:p>
            <a:r>
              <a:rPr lang="en-US" sz="1800" dirty="0"/>
              <a:t>Load and </a:t>
            </a:r>
            <a:r>
              <a:rPr lang="en-US" sz="1800" dirty="0" err="1"/>
              <a:t>analyse</a:t>
            </a:r>
            <a:r>
              <a:rPr lang="en-US" sz="1800" dirty="0"/>
              <a:t> mutual fund datasets</a:t>
            </a:r>
          </a:p>
          <a:p>
            <a:r>
              <a:rPr lang="en-IN" sz="1800" dirty="0"/>
              <a:t>Clean and validate data</a:t>
            </a:r>
            <a:endParaRPr lang="en-US" sz="1800" dirty="0"/>
          </a:p>
          <a:p>
            <a:r>
              <a:rPr lang="en-IN" sz="1800" dirty="0"/>
              <a:t>Build SQLite analytical database</a:t>
            </a:r>
            <a:endParaRPr lang="en-US" sz="1800" dirty="0"/>
          </a:p>
          <a:p>
            <a:r>
              <a:rPr lang="en-IN" sz="1800" dirty="0"/>
              <a:t>Perform EDA</a:t>
            </a:r>
            <a:endParaRPr lang="en-US" sz="1800" dirty="0"/>
          </a:p>
          <a:p>
            <a:r>
              <a:rPr lang="en-US" sz="1800" dirty="0"/>
              <a:t>Calculate fund performance and risk metrics</a:t>
            </a:r>
          </a:p>
          <a:p>
            <a:r>
              <a:rPr lang="en-US" sz="1800" dirty="0"/>
              <a:t>Build an interactive Power BI dashboard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11661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173D-5496-303A-C0CC-A67A8997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  <a:br>
              <a:rPr lang="en-IN" dirty="0"/>
            </a:br>
            <a:r>
              <a:rPr lang="en-IN" sz="2400" dirty="0"/>
              <a:t>10 CSV Datasets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018CE4-879A-F596-BD4E-883154F6FC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 Master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 History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AUM by Fund House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SIP Inflows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Inflows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 Folio Count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Scheme Performance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Investor Transactions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Holdings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 Indices </a:t>
            </a:r>
          </a:p>
        </p:txBody>
      </p:sp>
    </p:spTree>
    <p:extLst>
      <p:ext uri="{BB962C8B-B14F-4D97-AF65-F5344CB8AC3E}">
        <p14:creationId xmlns:p14="http://schemas.microsoft.com/office/powerpoint/2010/main" val="318743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5E286-F2A7-83DA-21CE-951B5ADE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0EF5B5-FF43-56B6-D6B9-EA52D2E58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738" y="985837"/>
            <a:ext cx="7315200" cy="4876800"/>
          </a:xfrm>
        </p:spPr>
      </p:pic>
    </p:spTree>
    <p:extLst>
      <p:ext uri="{BB962C8B-B14F-4D97-AF65-F5344CB8AC3E}">
        <p14:creationId xmlns:p14="http://schemas.microsoft.com/office/powerpoint/2010/main" val="216220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C6ED-8DEC-704F-34E3-9FB6336B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Highlights — Industry &amp; Market Trends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4820-4263-B796-C029-7A0A65044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b="1" dirty="0"/>
              <a:t>Key highlight:</a:t>
            </a:r>
          </a:p>
          <a:p>
            <a:r>
              <a:rPr lang="en-US" dirty="0"/>
              <a:t>SIP inflows vary over time.</a:t>
            </a:r>
            <a:endParaRPr lang="en-IN" dirty="0"/>
          </a:p>
          <a:p>
            <a:r>
              <a:rPr lang="en-US" dirty="0"/>
              <a:t>AUM is concentrated among leading fund houses.</a:t>
            </a:r>
            <a:endParaRPr lang="en-IN" dirty="0"/>
          </a:p>
          <a:p>
            <a:r>
              <a:rPr lang="en-IN" dirty="0"/>
              <a:t>Investor participation increased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1928294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379B-F095-45DC-9885-61B1EA93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Highlights — Fund &amp; Portfolio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9A95F-2632-7D0A-3D53-4D23A8F4B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778" y="673767"/>
            <a:ext cx="2593222" cy="24687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336DA2-5968-48BA-3C48-2758E47FD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974" y="673767"/>
            <a:ext cx="3405163" cy="2468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822D6C-98B7-2736-D9FB-A79F38FB9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779" y="3235166"/>
            <a:ext cx="3610336" cy="2668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86340-C9AE-FA06-476D-ADECEA514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115" y="3348261"/>
            <a:ext cx="2974444" cy="25552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772D03-FC87-9353-03F0-958702F95AE7}"/>
              </a:ext>
            </a:extLst>
          </p:cNvPr>
          <p:cNvSpPr txBox="1"/>
          <p:nvPr/>
        </p:nvSpPr>
        <p:spPr>
          <a:xfrm>
            <a:off x="3762737" y="267195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NAV Trend                                       Category Inflow Heatmap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Sector Allocation / Donut Chart                  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113581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EAEA-9FB4-D265-90DE-9A6327FE5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Fund Performance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D76DCA-0CB8-971E-D1B7-83603D181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896" y="560723"/>
            <a:ext cx="2952951" cy="269846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0EDB91-BE6C-A0AE-D607-ECBD942E7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394" y="560723"/>
            <a:ext cx="4167162" cy="2698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2EF3AC-45A8-6EDA-3A5D-12C85DC73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641" y="3429000"/>
            <a:ext cx="5670894" cy="28682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DB7928-92DE-4858-97F4-C3D7EB664B37}"/>
              </a:ext>
            </a:extLst>
          </p:cNvPr>
          <p:cNvSpPr txBox="1"/>
          <p:nvPr/>
        </p:nvSpPr>
        <p:spPr>
          <a:xfrm>
            <a:off x="3800342" y="313714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Daily Return Distribution                            Top 10 Sharpe Ratio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Top 10 </a:t>
            </a:r>
            <a:r>
              <a:rPr lang="en-IN" dirty="0" err="1"/>
              <a:t>Sortino</a:t>
            </a:r>
            <a:r>
              <a:rPr lang="en-IN" dirty="0"/>
              <a:t> Ratio</a:t>
            </a:r>
          </a:p>
        </p:txBody>
      </p:sp>
    </p:spTree>
    <p:extLst>
      <p:ext uri="{BB962C8B-B14F-4D97-AF65-F5344CB8AC3E}">
        <p14:creationId xmlns:p14="http://schemas.microsoft.com/office/powerpoint/2010/main" val="2175384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769C-452A-3B0C-1CFD-44A432C9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Performance &amp;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7AAD-C79D-9C05-32AF-F33DD9FCF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Include:</a:t>
            </a:r>
          </a:p>
          <a:p>
            <a:r>
              <a:rPr lang="sv-SE" dirty="0"/>
              <a:t>Alpha &amp; Beta vs Nifty 100</a:t>
            </a:r>
          </a:p>
          <a:p>
            <a:r>
              <a:rPr lang="en-IN" dirty="0"/>
              <a:t>Maximum Drawdown</a:t>
            </a:r>
            <a:endParaRPr lang="sv-SE" dirty="0"/>
          </a:p>
          <a:p>
            <a:r>
              <a:rPr lang="en-IN" dirty="0"/>
              <a:t>Fund Scorecard (0–100)</a:t>
            </a:r>
            <a:endParaRPr lang="sv-SE" dirty="0"/>
          </a:p>
          <a:p>
            <a:r>
              <a:rPr lang="en-IN" dirty="0"/>
              <a:t>Benchmark Comparison</a:t>
            </a:r>
            <a:endParaRPr lang="sv-SE" dirty="0"/>
          </a:p>
          <a:p>
            <a:r>
              <a:rPr lang="en-IN" dirty="0"/>
              <a:t>Tracking Error</a:t>
            </a:r>
            <a:endParaRPr lang="sv-SE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63DD2-E191-8B33-5F50-1E173259C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102" y="990925"/>
            <a:ext cx="3930654" cy="1965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0E0D37-A695-7EC7-A073-CB6D6FAD6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103" y="2956252"/>
            <a:ext cx="3930653" cy="196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198-019D-E9D9-6162-FC6CA2C9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— Industry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7A20A-D617-2438-663C-428443C61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Industry Overview</a:t>
            </a:r>
          </a:p>
          <a:p>
            <a:r>
              <a:rPr lang="en-IN" dirty="0"/>
              <a:t>KPIs</a:t>
            </a:r>
          </a:p>
          <a:p>
            <a:r>
              <a:rPr lang="en-IN" dirty="0"/>
              <a:t>AUM Trend</a:t>
            </a:r>
          </a:p>
          <a:p>
            <a:r>
              <a:rPr lang="en-IN" dirty="0"/>
              <a:t>AUM by AMC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CDB41-6D3F-36F5-19A8-A5A824E25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536" y="1123837"/>
            <a:ext cx="4766468" cy="46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7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B9D5-3631-2190-295D-BD31AD3B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— Fund Performance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8786D92-35BE-4E78-73C4-205ED198D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Fund Performance</a:t>
            </a:r>
          </a:p>
          <a:p>
            <a:r>
              <a:rPr lang="en-IN" dirty="0"/>
              <a:t>Scatter Plot</a:t>
            </a:r>
          </a:p>
          <a:p>
            <a:r>
              <a:rPr lang="en-IN" dirty="0"/>
              <a:t>Fund Scorecard</a:t>
            </a:r>
          </a:p>
          <a:p>
            <a:r>
              <a:rPr lang="en-IN" dirty="0"/>
              <a:t>NAV vs Benchmark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20AFE0-2B28-5426-EE0B-1C3288C13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536" y="873252"/>
            <a:ext cx="4991929" cy="56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82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8AA0-4E24-6A69-F9F0-897167C8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— Investor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80426-9CA9-7834-9D50-611B92BB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Investor Analytics</a:t>
            </a:r>
          </a:p>
          <a:p>
            <a:r>
              <a:rPr lang="en-IN" dirty="0"/>
              <a:t>Transaction by State</a:t>
            </a:r>
          </a:p>
          <a:p>
            <a:r>
              <a:rPr lang="en-IN" dirty="0"/>
              <a:t>Transaction Type</a:t>
            </a:r>
          </a:p>
          <a:p>
            <a:r>
              <a:rPr lang="en-IN" dirty="0"/>
              <a:t>SIP Analysis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4DBC0A-81BA-87C9-6308-E37BA9ABB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922" y="514350"/>
            <a:ext cx="5554060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13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01D2-7FB2-2A54-980B-DB8E38B5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Dashboard —SIP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D9F6D-8FDC-98F0-B173-4390B76C5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SIP &amp; Market Trends</a:t>
            </a:r>
          </a:p>
          <a:p>
            <a:r>
              <a:rPr lang="en-IN" dirty="0"/>
              <a:t>SIP vs Nifty 50</a:t>
            </a:r>
          </a:p>
          <a:p>
            <a:r>
              <a:rPr lang="en-IN" dirty="0"/>
              <a:t>Category Heatmap</a:t>
            </a:r>
          </a:p>
          <a:p>
            <a:r>
              <a:rPr lang="en-IN" dirty="0"/>
              <a:t>Top 5 Categories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Interactivity:</a:t>
            </a:r>
            <a:r>
              <a:rPr lang="en-US" dirty="0"/>
              <a:t> Drill-through | Tooltips | Slicers | </a:t>
            </a:r>
            <a:r>
              <a:rPr lang="en-US" dirty="0" err="1"/>
              <a:t>Bluestock</a:t>
            </a:r>
            <a:r>
              <a:rPr lang="en-US" dirty="0"/>
              <a:t> Theme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3D35C-A169-133D-D624-76864A2FB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127" y="2064880"/>
            <a:ext cx="5314952" cy="331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19DE-6F6F-363A-FE06-F5EF605D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876AA-E573-A4C2-7127-C58E00594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Mutual fund performance differs significantly across schemes.</a:t>
            </a:r>
          </a:p>
          <a:p>
            <a:r>
              <a:rPr lang="en-US" dirty="0"/>
              <a:t>Risk-adjusted metrics are important along with returns.</a:t>
            </a:r>
          </a:p>
          <a:p>
            <a:r>
              <a:rPr lang="en-US" dirty="0"/>
              <a:t>SIP inflows and investor participation show strong industry growth.</a:t>
            </a:r>
          </a:p>
          <a:p>
            <a:r>
              <a:rPr lang="en-US" dirty="0"/>
              <a:t>AUM is concentrated among major fund houses.</a:t>
            </a:r>
          </a:p>
          <a:p>
            <a:r>
              <a:rPr lang="en-US" dirty="0"/>
              <a:t>Expense ratio alone does not guarantee higher returns.</a:t>
            </a:r>
          </a:p>
          <a:p>
            <a:r>
              <a:rPr lang="en-US" dirty="0"/>
              <a:t>Portfolio sector allocation varies, creating different concentration risks.</a:t>
            </a:r>
          </a:p>
          <a:p>
            <a:pPr marL="0" indent="0">
              <a:buNone/>
            </a:pPr>
            <a:r>
              <a:rPr lang="en-IN" b="1" dirty="0"/>
              <a:t>Advanced Analytics Completed:</a:t>
            </a:r>
            <a:br>
              <a:rPr lang="en-IN" dirty="0"/>
            </a:br>
            <a:r>
              <a:rPr lang="en-IN" dirty="0" err="1"/>
              <a:t>VaR</a:t>
            </a:r>
            <a:r>
              <a:rPr lang="en-IN" dirty="0"/>
              <a:t> &amp; </a:t>
            </a:r>
            <a:r>
              <a:rPr lang="en-IN" dirty="0" err="1"/>
              <a:t>CVaR</a:t>
            </a:r>
            <a:r>
              <a:rPr lang="en-IN" dirty="0"/>
              <a:t> | Rolling Sharpe | Investor Cohort | SIP Continuity | Sector HHI | Fund Recommender</a:t>
            </a:r>
          </a:p>
        </p:txBody>
      </p:sp>
    </p:spTree>
    <p:extLst>
      <p:ext uri="{BB962C8B-B14F-4D97-AF65-F5344CB8AC3E}">
        <p14:creationId xmlns:p14="http://schemas.microsoft.com/office/powerpoint/2010/main" val="3743638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326B4E-131B-930F-BB27-0584ABBF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4ADCE-F97B-1B24-5051-10B1A33BB0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545305" y="737938"/>
            <a:ext cx="7491663" cy="5246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4578007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85</TotalTime>
  <Words>353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Corbel</vt:lpstr>
      <vt:lpstr>Wingdings 2</vt:lpstr>
      <vt:lpstr>Frame</vt:lpstr>
      <vt:lpstr>Capstone Project I - Mutual Fund Analytics</vt:lpstr>
      <vt:lpstr>Problem Statement &amp; Objective</vt:lpstr>
      <vt:lpstr>Data Sources 10 CSV Datasets </vt:lpstr>
      <vt:lpstr>Project Architecture</vt:lpstr>
      <vt:lpstr>EDA Highlights — Industry &amp; Market Trends</vt:lpstr>
      <vt:lpstr>EDA Highlights — Fund &amp; Portfolio Analysis</vt:lpstr>
      <vt:lpstr>Fund Performance Analysis</vt:lpstr>
      <vt:lpstr>Advanced Performance &amp; Risk Analysis</vt:lpstr>
      <vt:lpstr>Power BI Dashboard — Industry </vt:lpstr>
      <vt:lpstr>Power BI Dashboard — Fund Performance</vt:lpstr>
      <vt:lpstr>Power BI Dashboard — Investor</vt:lpstr>
      <vt:lpstr>Power BI Dashboard —SIP Analytics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ankuraj629@gmail.com</dc:creator>
  <cp:lastModifiedBy>ankuraj629@gmail.com</cp:lastModifiedBy>
  <cp:revision>1</cp:revision>
  <dcterms:created xsi:type="dcterms:W3CDTF">2026-08-16T17:32:15Z</dcterms:created>
  <dcterms:modified xsi:type="dcterms:W3CDTF">2026-08-16T18:58:08Z</dcterms:modified>
</cp:coreProperties>
</file>