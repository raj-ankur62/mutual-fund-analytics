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9" r:id="rId7"/>
    <p:sldId id="260" r:id="rId8"/>
    <p:sldId id="261" r:id="rId9"/>
    <p:sldId id="262" r:id="rId10"/>
    <p:sldId id="263" r:id="rId11"/>
    <p:sldId id="267" r:id="rId12"/>
    <p:sldId id="264" r:id="rId13"/>
    <p:sldId id="270" r:id="rId14"/>
    <p:sldId id="271" r:id="rId15"/>
    <p:sldId id="273" r:id="rId16"/>
    <p:sldId id="275" r:id="rId17"/>
    <p:sldId id="276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4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44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5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0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1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2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7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5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5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2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9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8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Capstone Project I -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Progress Presentation</a:t>
            </a:r>
          </a:p>
          <a:p>
            <a:r>
              <a:rPr dirty="0"/>
              <a:t>Day 1 </a:t>
            </a:r>
            <a:r>
              <a:rPr lang="en-US" dirty="0"/>
              <a:t>,</a:t>
            </a:r>
            <a:r>
              <a:rPr dirty="0"/>
              <a:t> Day 2</a:t>
            </a:r>
            <a:r>
              <a:rPr lang="en-US" dirty="0"/>
              <a:t> &amp; Day 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Load and analyze mutual fund datasets</a:t>
            </a:r>
          </a:p>
          <a:p>
            <a:pPr>
              <a:defRPr sz="2200"/>
            </a:pPr>
            <a:r>
              <a:rPr dirty="0"/>
              <a:t>• Clean and validate data</a:t>
            </a:r>
          </a:p>
          <a:p>
            <a:pPr>
              <a:defRPr sz="2200"/>
            </a:pPr>
            <a:r>
              <a:rPr dirty="0"/>
              <a:t>• Build SQLite analytical database</a:t>
            </a:r>
          </a:p>
          <a:p>
            <a:pPr>
              <a:defRPr sz="2200"/>
            </a:pPr>
            <a:r>
              <a:rPr dirty="0"/>
              <a:t>• Prepare SQL insights</a:t>
            </a:r>
            <a:endParaRPr lang="en-US" dirty="0"/>
          </a:p>
          <a:p>
            <a:pPr>
              <a:defRPr sz="2200"/>
            </a:pPr>
            <a:r>
              <a:rPr lang="en-IN" dirty="0"/>
              <a:t>• Compute Daily Returns</a:t>
            </a:r>
          </a:p>
          <a:p>
            <a:pPr>
              <a:defRPr sz="2200"/>
            </a:pPr>
            <a:r>
              <a:rPr lang="en-IN" dirty="0"/>
              <a:t>• </a:t>
            </a:r>
            <a:r>
              <a:rPr lang="es-ES" dirty="0" err="1"/>
              <a:t>Calculate</a:t>
            </a:r>
            <a:r>
              <a:rPr lang="es-ES" dirty="0"/>
              <a:t> CAGR (1Y, 3Y &amp; 5Y)</a:t>
            </a:r>
            <a:r>
              <a:rPr lang="en-IN" dirty="0"/>
              <a:t>, Sharpe Ratio, </a:t>
            </a:r>
            <a:r>
              <a:rPr lang="en-IN" dirty="0" err="1"/>
              <a:t>Sortino</a:t>
            </a:r>
            <a:r>
              <a:rPr lang="en-IN" dirty="0"/>
              <a:t> Ratio, Maximum Drawdown</a:t>
            </a:r>
          </a:p>
          <a:p>
            <a:pPr>
              <a:defRPr sz="2200"/>
            </a:pPr>
            <a:r>
              <a:rPr lang="en-IN" dirty="0"/>
              <a:t>• Perform Alpha &amp; Beta Analysis</a:t>
            </a:r>
          </a:p>
          <a:p>
            <a:pPr>
              <a:defRPr sz="2200"/>
            </a:pPr>
            <a:r>
              <a:rPr lang="en-IN" dirty="0"/>
              <a:t>• Generate Fund Scorecard</a:t>
            </a:r>
          </a:p>
          <a:p>
            <a:pPr>
              <a:defRPr sz="2200"/>
            </a:pPr>
            <a:r>
              <a:rPr lang="en-IN" dirty="0"/>
              <a:t>• Compare Funds with Benchmark</a:t>
            </a:r>
          </a:p>
          <a:p>
            <a:pPr>
              <a:defRPr sz="2200"/>
            </a:pPr>
            <a:r>
              <a:rPr lang="en-IN" dirty="0"/>
              <a:t>• Calculate Tracking Error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1 - 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Loaded 10 CSV datasets</a:t>
            </a:r>
          </a:p>
          <a:p>
            <a:pPr>
              <a:defRPr sz="2200"/>
            </a:pPr>
            <a:r>
              <a:t>• Fetched live NAV API data</a:t>
            </a:r>
          </a:p>
          <a:p>
            <a:pPr>
              <a:defRPr sz="2200"/>
            </a:pPr>
            <a:r>
              <a:t>• Compared API with historical NAV</a:t>
            </a:r>
          </a:p>
          <a:p>
            <a:pPr>
              <a:defRPr sz="2200"/>
            </a:pPr>
            <a:r>
              <a:t>• Initial EDA and quality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2 -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Cleaned NAV history</a:t>
            </a:r>
          </a:p>
          <a:p>
            <a:pPr>
              <a:defRPr sz="2200"/>
            </a:pPr>
            <a:r>
              <a:t>• Standardized investor transactions</a:t>
            </a:r>
          </a:p>
          <a:p>
            <a:pPr>
              <a:defRPr sz="2200"/>
            </a:pPr>
            <a:r>
              <a:t>• Validated scheme performance</a:t>
            </a:r>
          </a:p>
          <a:p>
            <a:pPr>
              <a:defRPr sz="2200"/>
            </a:pPr>
            <a:r>
              <a:t>• Removed duplicates and validated business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482-D503-7C3B-F3DE-28EABA89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3 - </a:t>
            </a:r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03CAD-6C88-F36C-816C-A732CE00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 (EDA), 15+ Visualizations, Key Insights &amp; Project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12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CA7D-EF28-A0BD-74A5-105FB8D6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Day 4: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204DF-B594-109E-75C4-0AD717142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Computed </a:t>
            </a:r>
            <a:r>
              <a:rPr lang="en-US" b="1" dirty="0"/>
              <a:t>Daily Returns</a:t>
            </a:r>
            <a:r>
              <a:rPr lang="en-US" dirty="0"/>
              <a:t> for all 40 mutual fund schemes.</a:t>
            </a:r>
          </a:p>
          <a:p>
            <a:r>
              <a:rPr lang="es-ES" dirty="0" err="1"/>
              <a:t>Calculated</a:t>
            </a:r>
            <a:r>
              <a:rPr lang="es-ES" dirty="0"/>
              <a:t> </a:t>
            </a:r>
            <a:r>
              <a:rPr lang="es-ES" b="1" dirty="0"/>
              <a:t>CAGR (1Y, 3Y &amp; 5Y)</a:t>
            </a:r>
            <a:r>
              <a:rPr lang="es-ES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Performed </a:t>
            </a:r>
            <a:r>
              <a:rPr lang="en-US" b="1" dirty="0"/>
              <a:t>Sharpe Ratio</a:t>
            </a:r>
            <a:r>
              <a:rPr lang="en-US" dirty="0"/>
              <a:t> and </a:t>
            </a:r>
            <a:r>
              <a:rPr lang="en-US" b="1" dirty="0" err="1"/>
              <a:t>Sortino</a:t>
            </a:r>
            <a:r>
              <a:rPr lang="en-US" b="1" dirty="0"/>
              <a:t> Ratio</a:t>
            </a:r>
            <a:r>
              <a:rPr lang="en-US" dirty="0"/>
              <a:t> analysis.</a:t>
            </a:r>
          </a:p>
          <a:p>
            <a:r>
              <a:rPr lang="en-US" dirty="0"/>
              <a:t>Calculated </a:t>
            </a:r>
            <a:r>
              <a:rPr lang="en-US" b="1" dirty="0"/>
              <a:t>Alpha &amp; Beta</a:t>
            </a:r>
            <a:r>
              <a:rPr lang="en-US" dirty="0"/>
              <a:t> using NIFTY100 benchmark.</a:t>
            </a:r>
          </a:p>
          <a:p>
            <a:r>
              <a:rPr lang="en-US" dirty="0"/>
              <a:t>Identified </a:t>
            </a:r>
            <a:r>
              <a:rPr lang="en-US" b="1" dirty="0"/>
              <a:t>Maximum Drawdown</a:t>
            </a:r>
            <a:r>
              <a:rPr lang="en-US" dirty="0"/>
              <a:t> and worst drawdown period.</a:t>
            </a:r>
          </a:p>
          <a:p>
            <a:r>
              <a:rPr lang="en-US" dirty="0"/>
              <a:t>Created </a:t>
            </a:r>
            <a:r>
              <a:rPr lang="en-US" b="1" dirty="0"/>
              <a:t>Fund Scorecard (0–100)</a:t>
            </a:r>
            <a:r>
              <a:rPr lang="en-US" dirty="0"/>
              <a:t> for ranking all funds.</a:t>
            </a:r>
          </a:p>
          <a:p>
            <a:r>
              <a:rPr lang="en-US" dirty="0"/>
              <a:t>Compared </a:t>
            </a:r>
            <a:r>
              <a:rPr lang="en-US" b="1" dirty="0"/>
              <a:t>Top 5 Funds vs NIFTY50 &amp; NIFTY100</a:t>
            </a:r>
            <a:r>
              <a:rPr lang="en-US" dirty="0"/>
              <a:t>.</a:t>
            </a:r>
          </a:p>
          <a:p>
            <a:r>
              <a:rPr lang="en-IN" dirty="0"/>
              <a:t>Calculated </a:t>
            </a:r>
            <a:r>
              <a:rPr lang="en-IN" b="1" dirty="0"/>
              <a:t>Tracking Error</a:t>
            </a:r>
            <a:r>
              <a:rPr lang="en-IN" dirty="0"/>
              <a:t>.</a:t>
            </a:r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4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Date parsing</a:t>
            </a:r>
          </a:p>
          <a:p>
            <a:pPr>
              <a:defRPr sz="2200"/>
            </a:pPr>
            <a:r>
              <a:t>• Missing value handling</a:t>
            </a:r>
          </a:p>
          <a:p>
            <a:pPr>
              <a:defRPr sz="2200"/>
            </a:pPr>
            <a:r>
              <a:t>• NAV &gt; 0 validation</a:t>
            </a:r>
          </a:p>
          <a:p>
            <a:pPr>
              <a:defRPr sz="2200"/>
            </a:pPr>
            <a:r>
              <a:t>• Amount validation</a:t>
            </a:r>
          </a:p>
          <a:p>
            <a:pPr>
              <a:defRPr sz="2200"/>
            </a:pPr>
            <a:r>
              <a:t>• Expense ratio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SQLite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 Schema:</a:t>
            </a:r>
          </a:p>
          <a:p>
            <a:pPr>
              <a:defRPr sz="2200"/>
            </a:pPr>
            <a:r>
              <a:t>• dim_fund</a:t>
            </a:r>
          </a:p>
          <a:p>
            <a:pPr>
              <a:defRPr sz="2200"/>
            </a:pPr>
            <a:r>
              <a:t>• dim_date</a:t>
            </a:r>
          </a:p>
          <a:p>
            <a:pPr>
              <a:defRPr sz="2200"/>
            </a:pPr>
            <a:r>
              <a:t>• fact_nav</a:t>
            </a:r>
          </a:p>
          <a:p>
            <a:pPr>
              <a:defRPr sz="2200"/>
            </a:pPr>
            <a:r>
              <a:t>• fact_transactions</a:t>
            </a:r>
          </a:p>
          <a:p>
            <a:pPr>
              <a:defRPr sz="2200"/>
            </a:pPr>
            <a:r>
              <a:t>• fact_performance</a:t>
            </a:r>
          </a:p>
          <a:p>
            <a:pPr>
              <a:defRPr sz="2200"/>
            </a:pPr>
            <a:r>
              <a:t>• fact_aum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Used SQLAlchemy + Pandas</a:t>
            </a:r>
          </a:p>
          <a:p>
            <a:pPr>
              <a:defRPr sz="2200"/>
            </a:pPr>
            <a:r>
              <a:t>• Loaded cleaned CSVs into SQLite</a:t>
            </a:r>
          </a:p>
          <a:p>
            <a:pPr>
              <a:defRPr sz="2200"/>
            </a:pPr>
            <a:r>
              <a:t>• Verified row 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Top 5 funds by AUM</a:t>
            </a:r>
          </a:p>
          <a:p>
            <a:pPr>
              <a:defRPr sz="2200"/>
            </a:pPr>
            <a:r>
              <a:t>• Avg NAV per month</a:t>
            </a:r>
          </a:p>
          <a:p>
            <a:pPr>
              <a:defRPr sz="2200"/>
            </a:pPr>
            <a:r>
              <a:t>• SIP YoY Growth</a:t>
            </a:r>
          </a:p>
          <a:p>
            <a:pPr>
              <a:defRPr sz="2200"/>
            </a:pPr>
            <a:r>
              <a:t>• Transactions by state</a:t>
            </a:r>
          </a:p>
          <a:p>
            <a:pPr>
              <a:defRPr sz="2200"/>
            </a:pPr>
            <a:r>
              <a:t>• Expense ratio &lt;1%</a:t>
            </a:r>
          </a:p>
          <a:p>
            <a:pPr>
              <a:defRPr sz="2200"/>
            </a:pPr>
            <a:r>
              <a:t>• Additional business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9F6C-BEAD-0476-86E6-C469D699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557DC8-3373-DE5B-FA70-50A73E5E91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 shows consistent long-term growth.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SIP inflows vary across categories.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 ratio alone does not determine higher returns.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 is concentrated among leading fund houses.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allocation differs across sectors. </a:t>
            </a:r>
          </a:p>
        </p:txBody>
      </p:sp>
    </p:spTree>
    <p:extLst>
      <p:ext uri="{BB962C8B-B14F-4D97-AF65-F5344CB8AC3E}">
        <p14:creationId xmlns:p14="http://schemas.microsoft.com/office/powerpoint/2010/main" val="137245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10 Cleaned CSVs</a:t>
            </a:r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bluestock_mf.db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schema.sql</a:t>
            </a: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queries.sql</a:t>
            </a:r>
            <a:endParaRPr dirty="0"/>
          </a:p>
          <a:p>
            <a:pPr>
              <a:defRPr sz="2200"/>
            </a:pPr>
            <a:r>
              <a:rPr dirty="0"/>
              <a:t>• data_dictionary.md</a:t>
            </a:r>
          </a:p>
          <a:p>
            <a:pPr>
              <a:defRPr sz="2200"/>
            </a:pPr>
            <a:r>
              <a:rPr lang="en-IN" dirty="0"/>
              <a:t>• </a:t>
            </a:r>
            <a:r>
              <a:rPr lang="en-IN" dirty="0" err="1"/>
              <a:t>EDA_Analysis.ipynb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IN" dirty="0"/>
              <a:t>• 15+ Charts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IN" dirty="0"/>
              <a:t>• Exported PNG Reports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IN" dirty="0"/>
              <a:t>• 10 Key EDA Insights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IN" dirty="0"/>
              <a:t>• Updated GitHub Repository</a:t>
            </a:r>
          </a:p>
          <a:p>
            <a:pPr>
              <a:defRPr sz="2200"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D552-B7B4-32EE-AE05-24A50692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4</a:t>
            </a:r>
            <a:r>
              <a:rPr lang="en-IN" dirty="0"/>
              <a:t> Outputs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27B20-9E13-049F-CC61-50647A097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4000" u="sng" dirty="0"/>
              <a:t>Generated Outputs</a:t>
            </a:r>
          </a:p>
          <a:p>
            <a:r>
              <a:rPr lang="en-IN" dirty="0" err="1"/>
              <a:t>Performance_Analytics.ipynb</a:t>
            </a:r>
            <a:endParaRPr lang="en-IN" dirty="0"/>
          </a:p>
          <a:p>
            <a:r>
              <a:rPr lang="en-IN" dirty="0"/>
              <a:t>fund_scorecard.csv</a:t>
            </a:r>
          </a:p>
          <a:p>
            <a:r>
              <a:rPr lang="en-IN" dirty="0"/>
              <a:t>alpha_beta.csv</a:t>
            </a:r>
          </a:p>
          <a:p>
            <a:r>
              <a:rPr lang="en-IN" dirty="0"/>
              <a:t>tracking_error_analysis.csv</a:t>
            </a:r>
          </a:p>
        </p:txBody>
      </p:sp>
    </p:spTree>
    <p:extLst>
      <p:ext uri="{BB962C8B-B14F-4D97-AF65-F5344CB8AC3E}">
        <p14:creationId xmlns:p14="http://schemas.microsoft.com/office/powerpoint/2010/main" val="583700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02DD-AEAA-EE06-F688-7F719AC0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4</a:t>
            </a:r>
            <a:br>
              <a:rPr lang="en-US" dirty="0"/>
            </a:br>
            <a:r>
              <a:rPr lang="en-IN" dirty="0"/>
              <a:t>Charts Generated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17A8-9BFA-1734-A52B-450402AEC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Daily Return Distribution</a:t>
            </a:r>
          </a:p>
          <a:p>
            <a:r>
              <a:rPr lang="en-IN" dirty="0"/>
              <a:t>Sharpe Ratio Top 10</a:t>
            </a:r>
          </a:p>
          <a:p>
            <a:r>
              <a:rPr lang="en-IN" dirty="0" err="1"/>
              <a:t>Sortino</a:t>
            </a:r>
            <a:r>
              <a:rPr lang="en-IN" dirty="0"/>
              <a:t> Ratio Top 10</a:t>
            </a:r>
          </a:p>
          <a:p>
            <a:r>
              <a:rPr lang="en-IN" dirty="0"/>
              <a:t>Alpha &amp; Beta Analysis</a:t>
            </a:r>
          </a:p>
          <a:p>
            <a:r>
              <a:rPr lang="en-IN" dirty="0"/>
              <a:t>Maximum Drawdown</a:t>
            </a:r>
          </a:p>
          <a:p>
            <a:r>
              <a:rPr lang="en-IN" dirty="0"/>
              <a:t>Fund Scorecard</a:t>
            </a:r>
          </a:p>
          <a:p>
            <a:r>
              <a:rPr lang="en-IN" dirty="0"/>
              <a:t>Benchmark Comparison</a:t>
            </a:r>
          </a:p>
        </p:txBody>
      </p:sp>
    </p:spTree>
    <p:extLst>
      <p:ext uri="{BB962C8B-B14F-4D97-AF65-F5344CB8AC3E}">
        <p14:creationId xmlns:p14="http://schemas.microsoft.com/office/powerpoint/2010/main" val="1027840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1E99-7F6B-94B7-FA2B-9E29DFB2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Outfit"/>
              </a:rPr>
              <a:t>Day 5: Dashboard Development (Power BI / Tableau)</a:t>
            </a:r>
            <a:br>
              <a:rPr lang="en-US" b="0" i="0" dirty="0">
                <a:effectLst/>
                <a:latin typeface="Outfit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31BA-26FE-9EB2-2C65-D8029EB6A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IN" dirty="0"/>
              <a:t>Page 1: Industry Overview — KPIs, AUM Trend and AUM by AMC.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IN" dirty="0"/>
              <a:t>Page 2: Fund Performance — Scatter Plot, Scorecard and NAV vs Benchmark.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IN" dirty="0"/>
              <a:t>Page 3: Investor Analytics — State, Transaction, SIP and Monthly Trends.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IN" dirty="0"/>
              <a:t>Page 4: SIP &amp; Market Trends — SIP vs Nifty 50, Heatmap and Top 5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74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0B19-B7A2-4E89-DE0A-83E1FC48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Interactivity &amp; Finalization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069B2-1B9D-705A-75CE-B93DC16EF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Created NAV Detail drill-through page with Back button.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Enabled tooltips and applied </a:t>
            </a:r>
            <a:r>
              <a:rPr lang="en-US" dirty="0" err="1"/>
              <a:t>Bluestock</a:t>
            </a:r>
            <a:r>
              <a:rPr lang="en-US" dirty="0"/>
              <a:t> theme and logo.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Validated all charts, slicers, KPIs and relationships.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Final deliverables: PBIX, PDF and page-wise PNG images.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67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5E23-BB24-248E-E6B1-0D14DD41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Day 5 Outcome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F262-28B8-43AD-3C72-9C2E10D1A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Completed the interactive Mutual Fund Analytics Power BI Dashboard.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Four main report pages and NAV Detail page finalized.</a:t>
            </a:r>
          </a:p>
          <a:p>
            <a:pPr>
              <a:spcAft>
                <a:spcPts val="1400"/>
              </a:spcAft>
              <a:defRPr sz="2200">
                <a:solidFill>
                  <a:srgbClr val="282828"/>
                </a:solidFill>
              </a:defRPr>
            </a:pPr>
            <a:r>
              <a:rPr lang="en-US" dirty="0"/>
              <a:t>Dashboard ready for final submission and GitHub update.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575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200"/>
            </a:pPr>
            <a:r>
              <a:rPr dirty="0"/>
              <a:t>Day 1: Data Ingestion &amp; EDA</a:t>
            </a:r>
          </a:p>
          <a:p>
            <a:pPr>
              <a:defRPr sz="2200"/>
            </a:pPr>
            <a:r>
              <a:rPr dirty="0"/>
              <a:t>Day 2: Data Cleaning, SQLite DB, SQL Analytics</a:t>
            </a:r>
          </a:p>
          <a:p>
            <a:pPr>
              <a:defRPr sz="2200"/>
            </a:pPr>
            <a:r>
              <a:rPr lang="en-US" dirty="0"/>
              <a:t>Day 3: Completed mutual fund data cleaning, exploratory data analysis (EDA), and created multiple charts to identify key insights and trends.</a:t>
            </a:r>
          </a:p>
          <a:p>
            <a:pPr>
              <a:defRPr sz="2200"/>
            </a:pPr>
            <a:r>
              <a:rPr lang="en-US" dirty="0"/>
              <a:t>Day 4: Completed fund performance analytics by calculating returns, CAGR, Sharpe, </a:t>
            </a:r>
            <a:r>
              <a:rPr lang="en-US" dirty="0" err="1"/>
              <a:t>Sortino</a:t>
            </a:r>
            <a:r>
              <a:rPr lang="en-US" dirty="0"/>
              <a:t>, Alpha/Beta, maximum drawdown, fund scorecards, and benchmark comparisons for all 40 schemes.</a:t>
            </a:r>
          </a:p>
          <a:p>
            <a:pPr>
              <a:defRPr sz="2200"/>
            </a:pPr>
            <a:r>
              <a:rPr lang="en-US" dirty="0"/>
              <a:t>Day 5: Completed the interactive Power BI Mutual Fund Analytics dashboard with four report pages, NAV drill-through, tooltips, </a:t>
            </a:r>
            <a:r>
              <a:rPr lang="en-US" dirty="0" err="1"/>
              <a:t>Bluestock</a:t>
            </a:r>
            <a:r>
              <a:rPr lang="en-US" dirty="0"/>
              <a:t> branding, and final report exports.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52</TotalTime>
  <Words>735</Words>
  <Application>Microsoft Office PowerPoint</Application>
  <PresentationFormat>On-screen Show (4:3)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Corbel</vt:lpstr>
      <vt:lpstr>Outfit</vt:lpstr>
      <vt:lpstr>Wingdings 2</vt:lpstr>
      <vt:lpstr>Frame</vt:lpstr>
      <vt:lpstr>Capstone Project I - Mutual Fund Analytics</vt:lpstr>
      <vt:lpstr>Project Objective</vt:lpstr>
      <vt:lpstr>Day 1 - Data Ingestion</vt:lpstr>
      <vt:lpstr>Day 2 - Data Cleaning</vt:lpstr>
      <vt:lpstr>Day 3 - Exploratory Data Analysis (EDA)</vt:lpstr>
      <vt:lpstr>Day 4: Performance Analytics</vt:lpstr>
      <vt:lpstr>Data Quality Checks</vt:lpstr>
      <vt:lpstr>SQLite Database Design</vt:lpstr>
      <vt:lpstr>Database Loading</vt:lpstr>
      <vt:lpstr>Analytical SQL Queries</vt:lpstr>
      <vt:lpstr>Key Insights</vt:lpstr>
      <vt:lpstr>Deliverables</vt:lpstr>
      <vt:lpstr>Day 4 Outputs &amp; Deliverables</vt:lpstr>
      <vt:lpstr>Day 4 Charts Generated</vt:lpstr>
      <vt:lpstr>Day 5: Dashboard Development (Power BI / Tableau) </vt:lpstr>
      <vt:lpstr>Interactivity &amp; Finalization </vt:lpstr>
      <vt:lpstr>Day 5 Outcome </vt:lpstr>
      <vt:lpstr>Project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ankuraj629@gmail.com</cp:lastModifiedBy>
  <cp:revision>6</cp:revision>
  <dcterms:created xsi:type="dcterms:W3CDTF">2013-01-27T09:14:16Z</dcterms:created>
  <dcterms:modified xsi:type="dcterms:W3CDTF">2026-08-15T12:42:50Z</dcterms:modified>
  <cp:category/>
</cp:coreProperties>
</file>